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EV Sales Volume (Lakhs)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EV Sales (units, lakhs)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3A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1.68</c:v>
                </c:pt>
                <c:pt idx="1">
                  <c:v>1.21</c:v>
                </c:pt>
                <c:pt idx="2">
                  <c:v>3.22</c:v>
                </c:pt>
                <c:pt idx="3">
                  <c:v>10.25</c:v>
                </c:pt>
                <c:pt idx="4">
                  <c:v>15.3</c:v>
                </c:pt>
                <c:pt idx="5">
                  <c:v>14.08</c:v>
                </c:pt>
                <c:pt idx="6">
                  <c:v>22.7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3A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Segment Share (% of Total EV Sales)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06D6A0"/>
              </a:solidFill>
              <a:effectLst/>
            </c:spPr>
          </c:dPt>
          <c:dPt>
            <c:idx val="2"/>
            <c:bubble3D val="0"/>
            <c:spPr>
              <a:solidFill>
                <a:srgbClr val="7B2D8B"/>
              </a:solidFill>
              <a:effectLst/>
            </c:spPr>
          </c:dPt>
          <c:dPt>
            <c:idx val="3"/>
            <c:bubble3D val="0"/>
            <c:spPr>
              <a:solidFill>
                <a:srgbClr val="FF6B3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E-2W</c:v>
                </c:pt>
                <c:pt idx="1">
                  <c:v>E-3W (L3+L5)</c:v>
                </c:pt>
                <c:pt idx="2">
                  <c:v>E-4W</c:v>
                </c:pt>
                <c:pt idx="3">
                  <c:v>E-Bus &amp; Others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56.4</c:v>
                </c:pt>
                <c:pt idx="1">
                  <c:v>35.2</c:v>
                </c:pt>
                <c:pt idx="2">
                  <c:v>7.7</c:v>
                </c:pt>
                <c:pt idx="3">
                  <c:v>0.7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YoY Sales Growth (CY 2024 → 2025)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Growth %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2D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E-2W</c:v>
                  </c:pt>
                  <c:pt idx="1">
                    <c:v>E-3W</c:v>
                  </c:pt>
                  <c:pt idx="2">
                    <c:v>E-4W</c:v>
                  </c:pt>
                  <c:pt idx="3">
                    <c:v>E-Goods Carrier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11.4</c:v>
                </c:pt>
                <c:pt idx="1">
                  <c:v>18.5</c:v>
                </c:pt>
                <c:pt idx="2">
                  <c:v>76.9</c:v>
                </c:pt>
                <c:pt idx="3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Hybrid Vehicle Sales ('000 units)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Hybrid Sales (thousand units)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Q1 FY25
(Strong Hyb.)</c:v>
                  </c:pt>
                  <c:pt idx="5">
                    <c:v>Q1 FY26
(Strong Hyb.)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55</c:v>
                </c:pt>
                <c:pt idx="2">
                  <c:v>120</c:v>
                </c:pt>
                <c:pt idx="3">
                  <c:v>324</c:v>
                </c:pt>
                <c:pt idx="4">
                  <c:v>12.1</c:v>
                </c:pt>
                <c:pt idx="5">
                  <c:v>26.5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Strong Hybrid OEM Share (FY 2025)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OEM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B3B2A"/>
              </a:solidFill>
              <a:effectLst/>
            </c:spPr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bubble3D val="0"/>
            <c:spPr>
              <a:solidFill>
                <a:srgbClr val="06D6A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Toyota (82%)</c:v>
                </c:pt>
                <c:pt idx="1">
                  <c:v>Maruti Suzuki (18%)</c:v>
                </c:pt>
                <c:pt idx="2">
                  <c:v>Honda (&lt;1%)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82</c:v>
                </c:pt>
                <c:pt idx="1">
                  <c:v>18</c:v>
                </c:pt>
                <c:pt idx="2">
                  <c:v>0.5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EV Share of New Vehicle Registrations by State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EV-to-ICE ratio (%)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Tripura</c:v>
                  </c:pt>
                  <c:pt idx="1">
                    <c:v>Delhi</c:v>
                  </c:pt>
                  <c:pt idx="2">
                    <c:v>Assam</c:v>
                  </c:pt>
                  <c:pt idx="3">
                    <c:v>Kerala</c:v>
                  </c:pt>
                  <c:pt idx="4">
                    <c:v>Uttar Pradesh</c:v>
                  </c:pt>
                  <c:pt idx="5">
                    <c:v>Maharashtra</c:v>
                  </c:pt>
                  <c:pt idx="6">
                    <c:v>Karnataka</c:v>
                  </c:pt>
                  <c:pt idx="7">
                    <c:v>India Avg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</c:v>
                </c:pt>
                <c:pt idx="1">
                  <c:v>14</c:v>
                </c:pt>
                <c:pt idx="2">
                  <c:v>14</c:v>
                </c:pt>
                <c:pt idx="3">
                  <c:v>12</c:v>
                </c:pt>
                <c:pt idx="4">
                  <c:v>9</c:v>
                </c:pt>
                <c:pt idx="5">
                  <c:v>7</c:v>
                </c:pt>
                <c:pt idx="6">
                  <c:v>6</c:v>
                </c:pt>
                <c:pt idx="7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EV &amp; Hybrid Sales Trajectory (Million Units)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 Sales (Million)</c:v>
                </c:pt>
              </c:strCache>
            </c:strRef>
          </c:tx>
          <c:spPr>
            <a:solidFill>
              <a:srgbClr val="00B4D8"/>
            </a:solidFill>
            <a:ln w="3810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2026E</c:v>
                  </c:pt>
                  <c:pt idx="5">
                    <c:v>2027E</c:v>
                  </c:pt>
                  <c:pt idx="6">
                    <c:v>2028E</c:v>
                  </c:pt>
                  <c:pt idx="7">
                    <c:v>2029E</c:v>
                  </c:pt>
                  <c:pt idx="8">
                    <c:v>2030E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1.03</c:v>
                </c:pt>
                <c:pt idx="1">
                  <c:v>1.53</c:v>
                </c:pt>
                <c:pt idx="2">
                  <c:v>1.95</c:v>
                </c:pt>
                <c:pt idx="3">
                  <c:v>2.27</c:v>
                </c:pt>
                <c:pt idx="4">
                  <c:v>2.9</c:v>
                </c:pt>
                <c:pt idx="5">
                  <c:v>3.8</c:v>
                </c:pt>
                <c:pt idx="6">
                  <c:v>5.2</c:v>
                </c:pt>
                <c:pt idx="7">
                  <c:v>7.1</c:v>
                </c:pt>
                <c:pt idx="8">
                  <c:v>9.5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Hybrid Sales (Million)</c:v>
                </c:pt>
              </c:strCache>
            </c:strRef>
          </c:tx>
          <c:spPr>
            <a:solidFill>
              <a:srgbClr val="FF6B35"/>
            </a:solidFill>
            <a:ln w="3810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2026E</c:v>
                  </c:pt>
                  <c:pt idx="5">
                    <c:v>2027E</c:v>
                  </c:pt>
                  <c:pt idx="6">
                    <c:v>2028E</c:v>
                  </c:pt>
                  <c:pt idx="7">
                    <c:v>2029E</c:v>
                  </c:pt>
                  <c:pt idx="8">
                    <c:v>2030E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0.06</c:v>
                </c:pt>
                <c:pt idx="1">
                  <c:v>0.1</c:v>
                </c:pt>
                <c:pt idx="2">
                  <c:v>0.32</c:v>
                </c:pt>
                <c:pt idx="3">
                  <c:v>0.5</c:v>
                </c:pt>
                <c:pt idx="4">
                  <c:v>0.7</c:v>
                </c:pt>
                <c:pt idx="5">
                  <c:v>1</c:v>
                </c:pt>
                <c:pt idx="6">
                  <c:v>1.25</c:v>
                </c:pt>
                <c:pt idx="7">
                  <c:v>1.5</c:v>
                </c:pt>
                <c:pt idx="8">
                  <c:v>1.73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E-2W OEM Market Share CY 2025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 %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2D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EADC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TVS Motor</c:v>
                  </c:pt>
                  <c:pt idx="1">
                    <c:v>Bajaj Auto</c:v>
                  </c:pt>
                  <c:pt idx="2">
                    <c:v>Ather Energy</c:v>
                  </c:pt>
                  <c:pt idx="3">
                    <c:v>Ola Electric</c:v>
                  </c:pt>
                  <c:pt idx="4">
                    <c:v>Others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23.5</c:v>
                </c:pt>
                <c:pt idx="1">
                  <c:v>20.1</c:v>
                </c:pt>
                <c:pt idx="2">
                  <c:v>14.8</c:v>
                </c:pt>
                <c:pt idx="3">
                  <c:v>15.2</c:v>
                </c:pt>
                <c:pt idx="4">
                  <c:v>26.4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E-4W OEM Share CY 2025 (%)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E-4W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FF6B35"/>
              </a:solidFill>
              <a:effectLst/>
            </c:spPr>
          </c:dPt>
          <c:dPt>
            <c:idx val="2"/>
            <c:bubble3D val="0"/>
            <c:spPr>
              <a:solidFill>
                <a:srgbClr val="06D6A0"/>
              </a:solidFill>
              <a:effectLst/>
            </c:spPr>
          </c:dPt>
          <c:dPt>
            <c:idx val="3"/>
            <c:bubble3D val="0"/>
            <c:spPr>
              <a:solidFill>
                <a:srgbClr val="8EADC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Mahindra &amp; Mahindra</c:v>
                </c:pt>
                <c:pt idx="2">
                  <c:v>JSW MG Motor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39.1</c:v>
                </c:pt>
                <c:pt idx="1">
                  <c:v>28.5</c:v>
                </c:pt>
                <c:pt idx="2">
                  <c:v>18.2</c:v>
                </c:pt>
                <c:pt idx="3">
                  <c:v>14.2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"/>
            <a:ext cx="3474720" cy="3474720"/>
          </a:xfrm>
          <a:prstGeom prst="ellipse">
            <a:avLst/>
          </a:prstGeom>
          <a:solidFill>
            <a:srgbClr val="00B4D8">
              <a:alpha val="12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822960"/>
            <a:ext cx="2286000" cy="2286000"/>
          </a:xfrm>
          <a:prstGeom prst="ellipse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0B4D8"/>
                </a:solidFill>
              </a:rPr>
              <a:t>EV &amp; HYBRID VEHICLES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Market Share &amp; Future Scope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 India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1"/>
                </a:solidFill>
              </a:rPr>
              <a:t>Data Sources: VAHAN Portal (MoRTH) · IESA · MHI · IBEF · FADA · Autocar India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ADC1"/>
                </a:solidFill>
              </a:rPr>
              <a:t>June 2026  |  For Educational / Research Use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1920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92024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</a:rPr>
              <a:t>2.3M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9933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Total EV sales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(CY 2025)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20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960120"/>
            <a:ext cx="192024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D6A0"/>
                </a:solidFill>
              </a:rPr>
              <a:t>8%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68880" y="19933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EV market share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(CY 2025)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1920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960120"/>
            <a:ext cx="192024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</a:rPr>
              <a:t>3.24L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Hybrid units sold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(FY 2024)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960120"/>
            <a:ext cx="1920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960120"/>
            <a:ext cx="1920240" cy="7315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B2D8B"/>
                </a:solidFill>
              </a:rPr>
              <a:t>16.3%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766560" y="19933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EV YoY growth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(2024→2025)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2971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India's total automobile market: 28.2 million registrations in CY 2025 (VAHAN / IESA).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3192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E-2W lead with 57% of EV sales (1.28M units); E-3W at 35% (0.8M units); E-4W at ~1.75L units.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3666744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Hybrid PV sales: 3.24 lakh in FY 2024; strong-hybrid Q1 FY26 sales more than doubled YoY.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4014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Government target: 30% EV penetration of new vehicle sales by 2030 (EV30@30 initiative).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3616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Policy: PM E-DRIVE (₹10,900 Cr), ACC-PLI (₹18,100 Cr), Auto PLI (₹25,938 Cr) — strongest push since FAME-I.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Historical EV Sales in India (CY 2019–2025)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EADC1"/>
                </a:solidFill>
              </a:rPr>
              <a:t>Source: VAHAN Portal (MoRTH), FADA, H.D. Kumaraswamy / MHI statement (Jan 2025)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822960"/>
          <a:ext cx="2834640" cy="3108960"/>
        </p:xfrm>
        <a:graphic>
          <a:graphicData uri="http://schemas.openxmlformats.org/drawingml/2006/table">
            <a:tbl>
              <a:tblPr/>
              <a:tblGrid>
                <a:gridCol w="822960"/>
                <a:gridCol w="1097280"/>
                <a:gridCol w="868680"/>
              </a:tblGrid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EVs (Lakhs)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Market Share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~0.6%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~0.4%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~1.2%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~3.8%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15.30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4.44%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14.08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5.59%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22.70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989320" y="4005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EADC1"/>
                </a:solidFill>
              </a:rPr>
              <a:t>Note: CY = Calendar Year. 2019 figure estimated from available data.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EV Segment Breakdown – CY 2025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029200" y="822960"/>
          <a:ext cx="3840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1879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EADC1"/>
                </a:solidFill>
              </a:rPr>
              <a:t>Source: EVreporter / IESA based on VAHAN Dashboard data (Jan 2026). E-4W YoY from EVreporter CY2025 report.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Hybrid Vehicle Market in India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36576"/>
          </a:xfrm>
          <a:prstGeom prst="rect">
            <a:avLst/>
          </a:prstGeom>
          <a:solidFill>
            <a:srgbClr val="FF6B35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20040" y="804672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577840" y="804672"/>
          <a:ext cx="33832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20040" y="409651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FY 2024 total hybrid sales: 3,23,913 units (Research &amp; Markets / GlobeNewsWire).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320040" y="409651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Strong hybrid Q1 FY26 sales: 26,460 units — up 118% YoY (VAHAN / Autocar India).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20040" y="409651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Toyota India: 68,231 strong hybrids in FY25, commanding 82% market share.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320040" y="409651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Maruti Suzuki: Grand Vitara + Invicto strong hybrids; 4,745 units Q1 FY26 (+263% YoY).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20040" y="409651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Hybrid market CAGR FY25–FY30: ~34.8% (Research &amp; Markets estimate).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EADC1"/>
                </a:solidFill>
              </a:rPr>
              <a:t>Note: 'Strong Hybrid' = self-charging full hybrid (Toyota HSD, etc.). Data excludes mild-hybrid MHEV segment.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EV Penetration – State-wise Highlights (CY 2025)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804672"/>
          <a:ext cx="52120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804672"/>
          <a:ext cx="3200400" cy="2651760"/>
        </p:xfrm>
        <a:graphic>
          <a:graphicData uri="http://schemas.openxmlformats.org/drawingml/2006/table">
            <a:tbl>
              <a:tblPr/>
              <a:tblGrid>
                <a:gridCol w="1463040"/>
                <a:gridCol w="1691640"/>
              </a:tblGrid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EV Units FY25 (est.)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Uttar Pradesh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4,00,000+  (18% of national)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Maharashtra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2,50,000+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Karnataka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1,80,000+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Delhi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1,40,000+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Rajasthan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1,20,000+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Gujarat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1,10,000+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715000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EADC1"/>
                </a:solidFill>
              </a:rPr>
              <a:t>Source: IESA Annual Report 2025; DD News / Vahan Portal data.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365760" y="43708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Uttar Pradesh is India's single largest EV market (18% of national EV sales in 2025). Smaller north-eastern and southern states like Tripura and Kerala show disproportionately high EV-to-ICE ratios driven by state incentives and fuel accessibility challenges.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Government Policy Landscape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16052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1143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</a:rPr>
              <a:t>PM E-DRIVE Scheme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₹10,900 Cr | Oct 2024–2028 | Subsidises e-2W, e-3W, e-Bus, trucks, ambulances &amp; 72,300 chargers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6052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40280"/>
            <a:ext cx="109728" cy="11430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31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</a:rPr>
              <a:t>ACC PLI Scheme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₹18,100 Cr | 50 GWh battery cell manufacturing target | Beneficiaries include Ola, Reliance, Rajesh Exports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416052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520440"/>
            <a:ext cx="109728" cy="1143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11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</a:rPr>
              <a:t>Auto &amp; Components PLI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₹25,938 Cr | EV components, motors, BMS | 82 approvals; ₹20,715 Cr invested (Sep 2024)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960120"/>
            <a:ext cx="416052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7B2D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960120"/>
            <a:ext cx="109728" cy="11430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8B"/>
                </a:solidFill>
              </a:rPr>
              <a:t>FAME-II (concluded)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83480" y="1417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₹11,500 Cr | Apr 2019–Mar 2024 | Supported 16.29 lakh EVs; 8,885 public chargers installed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2240280"/>
            <a:ext cx="416052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240280"/>
            <a:ext cx="109728" cy="11430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331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</a:rPr>
              <a:t>GST Incentives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83480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5% GST on EVs vs 28% on ICE vehicles — 23-point structural advantage. Charger GST reduced 18%→5%.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3520440"/>
            <a:ext cx="416052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520440"/>
            <a:ext cx="109728" cy="11430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611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</a:rPr>
              <a:t>Charging Infrastructure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83480" y="3977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29,151 public stations (Dec 2025). Target: 1.32 million stations for 30% EV penetration by 2030.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Future Projections &amp; Market Forecast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36576"/>
          </a:xfrm>
          <a:prstGeom prst="rect">
            <a:avLst/>
          </a:prstGeom>
          <a:solidFill>
            <a:srgbClr val="06D6A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20040" y="804672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804672"/>
            <a:ext cx="2834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0" y="804672"/>
            <a:ext cx="91440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6172200" y="85039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EV Market Size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2030 target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35240" y="83210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30%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35240" y="1261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EADC1"/>
                </a:solidFill>
              </a:rPr>
              <a:t>of new vehicle sales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035040" y="1719072"/>
            <a:ext cx="2834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35040" y="1719072"/>
            <a:ext cx="91440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6172200" y="176479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Hybrid CAGR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FY25–FY30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635240" y="174650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~35%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635240" y="2176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EADC1"/>
                </a:solidFill>
              </a:rPr>
              <a:t>Research &amp; Markets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2633472"/>
            <a:ext cx="2834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0" y="2633472"/>
            <a:ext cx="91440" cy="7772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267919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Charging Stations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Needed by 2030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635240" y="266090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63946"/>
                </a:solidFill>
              </a:rPr>
              <a:t>1.32M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635240" y="3090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EADC1"/>
                </a:solidFill>
              </a:rPr>
              <a:t>vs 29,151 today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035040" y="3547872"/>
            <a:ext cx="2834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035040" y="3547872"/>
            <a:ext cx="91440" cy="7772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19"/>
          <p:cNvSpPr/>
          <p:nvPr/>
        </p:nvSpPr>
        <p:spPr>
          <a:xfrm>
            <a:off x="6172200" y="359359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EV Export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Opportunity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635240" y="357530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6D6A0"/>
                </a:solidFill>
              </a:rPr>
              <a:t>$100B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635240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EADC1"/>
                </a:solidFill>
              </a:rPr>
              <a:t>auto components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20040" y="43708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EADC1"/>
                </a:solidFill>
              </a:rPr>
              <a:t>Sources: Research &amp; Markets, IESA, NITI Aayog EV30@30, IBEF. Projections are market estimates.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Key Market Players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20040" y="804672"/>
          <a:ext cx="45720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029200" y="804672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20040" y="34015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E-2W: TVS Motor leads (23.5%), followed by Bajaj Auto. Ola Electric fell 51% YoY (35.3% → 15.2% share).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320040" y="37490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E-4W: Tata Motors leads but share contracted (61.2% → 39.1%) as Mahindra surged +396% YoY and MG +143% YoY.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20040" y="409651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Hybrid: Toyota dominates with 81–82% share; Maruti Suzuki growing fast (+263% Q1 FY26); Honda holds ~1%.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20040" y="4443984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Charging: Tata Motors, Ather Energy, Ola Electric, ChargePoint, Kazam, BOLT.Earth competing in infrastructure.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EADC1"/>
                </a:solidFill>
              </a:rPr>
              <a:t>Source: EVreporter CY 2025 Annual Insights; Autocar India (Q1 FY26 hybrid data).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Challenges &amp; Opportunities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822960"/>
            <a:ext cx="416052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229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CHALLENGES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822960"/>
            <a:ext cx="4160520" cy="34747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8229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OPPORTUNITIES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4160520" cy="502920"/>
          </a:xfrm>
          <a:prstGeom prst="rect">
            <a:avLst/>
          </a:prstGeom>
          <a:solidFill>
            <a:srgbClr val="FFF0F0"/>
          </a:solidFill>
          <a:ln w="6350">
            <a:solidFill>
              <a:srgbClr val="FFB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618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Charging infrastructure: ~29K stations vs 1.32M needed by 2030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4160520" cy="502920"/>
          </a:xfrm>
          <a:prstGeom prst="rect">
            <a:avLst/>
          </a:prstGeom>
          <a:solidFill>
            <a:srgbClr val="FFE5E5"/>
          </a:solidFill>
          <a:ln w="6350">
            <a:solidFill>
              <a:srgbClr val="FFB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56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High upfront EV cost; PM E-DRIVE excludes private e-Cars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423160"/>
            <a:ext cx="4160520" cy="502920"/>
          </a:xfrm>
          <a:prstGeom prst="rect">
            <a:avLst/>
          </a:prstGeom>
          <a:solidFill>
            <a:srgbClr val="FFF0F0"/>
          </a:solidFill>
          <a:ln w="6350">
            <a:solidFill>
              <a:srgbClr val="FF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505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85% crude oil import dependency pressures energy security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160520" cy="502920"/>
          </a:xfrm>
          <a:prstGeom prst="rect">
            <a:avLst/>
          </a:prstGeom>
          <a:solidFill>
            <a:srgbClr val="FFE5E5"/>
          </a:solidFill>
          <a:ln w="6350">
            <a:solidFill>
              <a:srgbClr val="FFBB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449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Rare earth supply chain risk for EV motors &amp; batteries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160520" cy="502920"/>
          </a:xfrm>
          <a:prstGeom prst="rect">
            <a:avLst/>
          </a:prstGeom>
          <a:solidFill>
            <a:srgbClr val="FFF0F0"/>
          </a:solidFill>
          <a:ln w="6350">
            <a:solidFill>
              <a:srgbClr val="FFBB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393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Grid readiness &amp; renewable integration challenges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206240"/>
            <a:ext cx="4160520" cy="502920"/>
          </a:xfrm>
          <a:prstGeom prst="rect">
            <a:avLst/>
          </a:prstGeom>
          <a:solidFill>
            <a:srgbClr val="FFE5E5"/>
          </a:solidFill>
          <a:ln w="6350">
            <a:solidFill>
              <a:srgbClr val="FFBB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233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Policy churn: FAME-II → PM E-DRIVE transition uncertainty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234440"/>
            <a:ext cx="4160520" cy="502920"/>
          </a:xfrm>
          <a:prstGeom prst="rect">
            <a:avLst/>
          </a:prstGeom>
          <a:solidFill>
            <a:srgbClr val="F0FFF8"/>
          </a:solidFill>
          <a:ln w="6350">
            <a:solidFill>
              <a:srgbClr val="BBFF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2618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$100 billion auto component export opportunity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1828800"/>
            <a:ext cx="4160520" cy="502920"/>
          </a:xfrm>
          <a:prstGeom prst="rect">
            <a:avLst/>
          </a:prstGeom>
          <a:solidFill>
            <a:srgbClr val="E5FFEF"/>
          </a:solidFill>
          <a:ln w="6350">
            <a:solidFill>
              <a:srgbClr val="BBFF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856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EV30@30 target: 30% market share by 2030 (policy backing)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423160"/>
            <a:ext cx="4160520" cy="502920"/>
          </a:xfrm>
          <a:prstGeom prst="rect">
            <a:avLst/>
          </a:prstGeom>
          <a:solidFill>
            <a:srgbClr val="F0FFF8"/>
          </a:solidFill>
          <a:ln w="6350">
            <a:solidFill>
              <a:srgbClr val="BBFF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4505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E-3W passenger: 20.8% → 31.8% penetration (2024→2025)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017520"/>
            <a:ext cx="4160520" cy="502920"/>
          </a:xfrm>
          <a:prstGeom prst="rect">
            <a:avLst/>
          </a:prstGeom>
          <a:solidFill>
            <a:srgbClr val="E5FFEF"/>
          </a:solidFill>
          <a:ln w="6350">
            <a:solidFill>
              <a:srgbClr val="BBFF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0449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Battery swapping infrastructure scaling (esp. for e-3W)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3611880"/>
            <a:ext cx="4160520" cy="502920"/>
          </a:xfrm>
          <a:prstGeom prst="rect">
            <a:avLst/>
          </a:prstGeom>
          <a:solidFill>
            <a:srgbClr val="F0FFF8"/>
          </a:solidFill>
          <a:ln w="6350">
            <a:solidFill>
              <a:srgbClr val="BBFF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6393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ACC PLI: 50 GWh domestic cell manufacturing by 2028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4206240"/>
            <a:ext cx="4160520" cy="502920"/>
          </a:xfrm>
          <a:prstGeom prst="rect">
            <a:avLst/>
          </a:prstGeom>
          <a:solidFill>
            <a:srgbClr val="E5FFEF"/>
          </a:solidFill>
          <a:ln w="6350">
            <a:solidFill>
              <a:srgbClr val="BBFF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4233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Rural EV adoption via e-rickshaws and e-carts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Future Scope: Road to 2030 &amp; Beyond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22376"/>
            <a:ext cx="82296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60120"/>
            <a:ext cx="914400" cy="77724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05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399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17320" y="1051560"/>
            <a:ext cx="731520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051560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PM E-DRIVE concludes; expected successor policy. Maruti Suzuki launches Fronx strong hybrid. Battery cell PLI capacity hits 10 GWh.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929384"/>
            <a:ext cx="914400" cy="77724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97510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2027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2368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17320" y="2020824"/>
            <a:ext cx="731520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020824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Hyundai Motor Group enters hybrid SUV space. ACC PLI manufacturing hits meaningful scale. EV penetration forecast: ~14-16%.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898648"/>
            <a:ext cx="914400" cy="77724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9443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2028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" y="3337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417320" y="2990088"/>
            <a:ext cx="731520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508760" y="2990088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PM-eBus Sewa: 10,000 e-buses operational under PPP model. 50 GWh target for battery cell manufacturing matures.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867912"/>
            <a:ext cx="914400" cy="77724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2030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1480" y="43068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417320" y="3959352"/>
            <a:ext cx="731520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508760" y="3959352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Government target: 30% EV share in new vehicle sales (EV30@30). 1.32 million public charging stations needed. Net-zero pathway milestone.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ADC1"/>
                </a:solidFill>
              </a:rPr>
              <a:t>India's EV journey: from 50,000 units in 2016 → 2.3 million in 2025 → targeting 8–10 million+ by 2030.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Data Sources &amp; Methodology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96112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9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VAHAN Portal (MoRTH)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ADC1"/>
                </a:solidFill>
              </a:rPr>
              <a:t>vahan.parivahan.gov.in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Primary vehicle registration data — all EV sales figures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93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IESA Annual EV Report 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ADC1"/>
                </a:solidFill>
              </a:rPr>
              <a:t>indiaesa.info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Segment-wise EV breakdown, state-wise penetration, investment data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944368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Ministry of Heavy Industries (MHI)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3101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ADC1"/>
                </a:solidFill>
              </a:rPr>
              <a:t>heavyindustries.gov.in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PM E-DRIVE, ACC PLI, Auto PLI scheme details &amp; disbursements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968496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041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IBEF (India Brand Equity Foundation)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334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ADC1"/>
                </a:solidFill>
              </a:rPr>
              <a:t>ibef.org/industry/electric-vehicle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498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EV sector overview, charging infrastructure, policy updates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896112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969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FADA (Federation of Automobile Dealers)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261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ADC1"/>
                </a:solidFill>
              </a:rPr>
              <a:t>fada.in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92040" y="1426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Retail sales data; CY 2022–2024 EV penetration rates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1993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Autocar India / EVreporter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ADC1"/>
                </a:solidFill>
              </a:rPr>
              <a:t>autocarindia.com / evreporter.com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Segment-level OEM share; hybrid sales data; CY 2025 annual insights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2944368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Research &amp; Markets / GlobeNewsWire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33101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ADC1"/>
                </a:solidFill>
              </a:rPr>
              <a:t>globenewswire.com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9204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Hybrid market size, CAGR projections for FY2025–FY2030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3968496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4041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NITI Aayog / EV30@30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4334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ADC1"/>
                </a:solidFill>
              </a:rPr>
              <a:t>niti.gov.in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92040" y="4498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National 30% EV target by 2030; net-zero pathway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6D6A0">
              <a:alpha val="1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India's EV Revolution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B4D8"/>
                </a:solidFill>
              </a:rPr>
              <a:t>From 50,000 units in 2016 to 2.3 Million in 2025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0B4D8"/>
                </a:solidFill>
              </a:rPr>
              <a:t>Targeting 30% market share by 2030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"/>
          </a:xfrm>
          <a:prstGeom prst="rect">
            <a:avLst/>
          </a:prstGeom>
          <a:solidFill>
            <a:srgbClr val="8EADC1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71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ADC1"/>
                </a:solidFill>
              </a:rPr>
              <a:t>Data compiled from VAHAN Portal (MoRTH), IESA, MHI, FADA, IBEF and industry reports.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EADC1"/>
                </a:solidFill>
              </a:rPr>
              <a:t>For Research / Academic Use Only  |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&amp; Hybrid Vehicle Market in India – Market Share &amp; Future Scope</dc:title>
  <dc:subject>PptxGenJS Presentation</dc:subject>
  <dc:creator>PptxGenJS</dc:creator>
  <cp:lastModifiedBy>PptxGenJS</cp:lastModifiedBy>
  <cp:revision>1</cp:revision>
  <dcterms:created xsi:type="dcterms:W3CDTF">2026-06-02T07:05:42Z</dcterms:created>
  <dcterms:modified xsi:type="dcterms:W3CDTF">2026-06-02T07:05:42Z</dcterms:modified>
</cp:coreProperties>
</file>